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embeddedFontLst>
    <p:embeddedFont>
      <p:font typeface="Permanent Marker"/>
      <p:regular r:id="rId11"/>
    </p:embeddedFont>
    <p:embeddedFont>
      <p:font typeface="Rowdies"/>
      <p:regular r:id="rId12"/>
      <p:bold r:id="rId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PermanentMarker-regular.fntdata"/><Relationship Id="rId10" Type="http://schemas.openxmlformats.org/officeDocument/2006/relationships/slide" Target="slides/slide5.xml"/><Relationship Id="rId13" Type="http://schemas.openxmlformats.org/officeDocument/2006/relationships/font" Target="fonts/Rowdies-bold.fntdata"/><Relationship Id="rId12" Type="http://schemas.openxmlformats.org/officeDocument/2006/relationships/font" Target="fonts/Rowdies-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9400f68ea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9400f68ea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9400f68eaa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9400f68eaa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9400f68eaa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9400f68eaa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9400f68eaa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9400f68eaa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5CD"/>
        </a:solidFill>
      </p:bgPr>
    </p:bg>
    <p:spTree>
      <p:nvGrpSpPr>
        <p:cNvPr id="53" name="Shape 53"/>
        <p:cNvGrpSpPr/>
        <p:nvPr/>
      </p:nvGrpSpPr>
      <p:grpSpPr>
        <a:xfrm>
          <a:off x="0" y="0"/>
          <a:ext cx="0" cy="0"/>
          <a:chOff x="0" y="0"/>
          <a:chExt cx="0" cy="0"/>
        </a:xfrm>
      </p:grpSpPr>
      <p:pic>
        <p:nvPicPr>
          <p:cNvPr id="54" name="Google Shape;54;p13"/>
          <p:cNvPicPr preferRelativeResize="0"/>
          <p:nvPr/>
        </p:nvPicPr>
        <p:blipFill rotWithShape="1">
          <a:blip r:embed="rId3">
            <a:alphaModFix amt="98000"/>
          </a:blip>
          <a:srcRect b="11903" l="6015" r="5644" t="4561"/>
          <a:stretch/>
        </p:blipFill>
        <p:spPr>
          <a:xfrm>
            <a:off x="962525" y="240625"/>
            <a:ext cx="7249025" cy="4406575"/>
          </a:xfrm>
          <a:prstGeom prst="rect">
            <a:avLst/>
          </a:prstGeom>
          <a:noFill/>
          <a:ln>
            <a:noFill/>
          </a:ln>
        </p:spPr>
      </p:pic>
      <p:sp>
        <p:nvSpPr>
          <p:cNvPr id="55" name="Google Shape;55;p13"/>
          <p:cNvSpPr txBox="1"/>
          <p:nvPr>
            <p:ph type="ctrTitle"/>
          </p:nvPr>
        </p:nvSpPr>
        <p:spPr>
          <a:xfrm>
            <a:off x="2135600" y="651225"/>
            <a:ext cx="5504400" cy="792600"/>
          </a:xfrm>
          <a:prstGeom prst="rect">
            <a:avLst/>
          </a:prstGeom>
          <a:solidFill>
            <a:srgbClr val="E4E3E2"/>
          </a:solidFill>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solidFill>
                  <a:srgbClr val="000000"/>
                </a:solidFill>
                <a:latin typeface="Permanent Marker"/>
                <a:ea typeface="Permanent Marker"/>
                <a:cs typeface="Permanent Marker"/>
                <a:sym typeface="Permanent Marker"/>
              </a:rPr>
              <a:t>Save Your Listens</a:t>
            </a:r>
            <a:endParaRPr>
              <a:solidFill>
                <a:srgbClr val="000000"/>
              </a:solidFill>
              <a:latin typeface="Permanent Marker"/>
              <a:ea typeface="Permanent Marker"/>
              <a:cs typeface="Permanent Marker"/>
              <a:sym typeface="Permanent Marker"/>
            </a:endParaRPr>
          </a:p>
        </p:txBody>
      </p:sp>
      <p:sp>
        <p:nvSpPr>
          <p:cNvPr id="56" name="Google Shape;56;p13"/>
          <p:cNvSpPr txBox="1"/>
          <p:nvPr>
            <p:ph idx="1" type="subTitle"/>
          </p:nvPr>
        </p:nvSpPr>
        <p:spPr>
          <a:xfrm>
            <a:off x="1278350" y="2668700"/>
            <a:ext cx="6632400" cy="519600"/>
          </a:xfrm>
          <a:prstGeom prst="rect">
            <a:avLst/>
          </a:prstGeom>
          <a:solidFill>
            <a:srgbClr val="FF82B5"/>
          </a:solidFill>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rPr b="1" lang="en">
                <a:solidFill>
                  <a:schemeClr val="lt1"/>
                </a:solidFill>
                <a:latin typeface="Permanent Marker"/>
                <a:ea typeface="Permanent Marker"/>
                <a:cs typeface="Permanent Marker"/>
                <a:sym typeface="Permanent Marker"/>
              </a:rPr>
              <a:t>Zachary, Aaron, Josh</a:t>
            </a:r>
            <a:endParaRPr b="1">
              <a:solidFill>
                <a:schemeClr val="lt1"/>
              </a:solidFill>
              <a:latin typeface="Permanent Marker"/>
              <a:ea typeface="Permanent Marker"/>
              <a:cs typeface="Permanent Marker"/>
              <a:sym typeface="Permanent Mark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 name="Shape 60"/>
        <p:cNvGrpSpPr/>
        <p:nvPr/>
      </p:nvGrpSpPr>
      <p:grpSpPr>
        <a:xfrm>
          <a:off x="0" y="0"/>
          <a:ext cx="0" cy="0"/>
          <a:chOff x="0" y="0"/>
          <a:chExt cx="0" cy="0"/>
        </a:xfrm>
      </p:grpSpPr>
      <p:pic>
        <p:nvPicPr>
          <p:cNvPr id="61" name="Google Shape;61;p14"/>
          <p:cNvPicPr preferRelativeResize="0"/>
          <p:nvPr/>
        </p:nvPicPr>
        <p:blipFill>
          <a:blip r:embed="rId3">
            <a:alphaModFix amt="60000"/>
          </a:blip>
          <a:stretch>
            <a:fillRect/>
          </a:stretch>
        </p:blipFill>
        <p:spPr>
          <a:xfrm>
            <a:off x="0" y="0"/>
            <a:ext cx="9144000" cy="5143500"/>
          </a:xfrm>
          <a:prstGeom prst="rect">
            <a:avLst/>
          </a:prstGeom>
          <a:noFill/>
          <a:ln>
            <a:noFill/>
          </a:ln>
        </p:spPr>
      </p:pic>
      <p:sp>
        <p:nvSpPr>
          <p:cNvPr id="62" name="Google Shape;62;p14"/>
          <p:cNvSpPr txBox="1"/>
          <p:nvPr>
            <p:ph type="title"/>
          </p:nvPr>
        </p:nvSpPr>
        <p:spPr>
          <a:xfrm>
            <a:off x="416975" y="353450"/>
            <a:ext cx="3869100" cy="572700"/>
          </a:xfrm>
          <a:prstGeom prst="rect">
            <a:avLst/>
          </a:prstGeom>
          <a:solidFill>
            <a:srgbClr val="FF82B5"/>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latin typeface="Permanent Marker"/>
                <a:ea typeface="Permanent Marker"/>
                <a:cs typeface="Permanent Marker"/>
                <a:sym typeface="Permanent Marker"/>
              </a:rPr>
              <a:t>Description</a:t>
            </a:r>
            <a:endParaRPr>
              <a:solidFill>
                <a:schemeClr val="lt1"/>
              </a:solidFill>
              <a:latin typeface="Permanent Marker"/>
              <a:ea typeface="Permanent Marker"/>
              <a:cs typeface="Permanent Marker"/>
              <a:sym typeface="Permanent Marker"/>
            </a:endParaRPr>
          </a:p>
        </p:txBody>
      </p:sp>
      <p:sp>
        <p:nvSpPr>
          <p:cNvPr id="63" name="Google Shape;63;p14"/>
          <p:cNvSpPr/>
          <p:nvPr/>
        </p:nvSpPr>
        <p:spPr>
          <a:xfrm rot="5400000">
            <a:off x="4287649" y="415547"/>
            <a:ext cx="812100" cy="571500"/>
          </a:xfrm>
          <a:prstGeom prst="mathEqual">
            <a:avLst>
              <a:gd fmla="val 23520" name="adj1"/>
              <a:gd fmla="val 11760" name="adj2"/>
            </a:avLst>
          </a:prstGeom>
          <a:solidFill>
            <a:srgbClr val="FF82B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 name="Google Shape;64;p14"/>
          <p:cNvSpPr/>
          <p:nvPr/>
        </p:nvSpPr>
        <p:spPr>
          <a:xfrm rot="5400000">
            <a:off x="5071092" y="496311"/>
            <a:ext cx="571500" cy="466200"/>
          </a:xfrm>
          <a:prstGeom prst="triangle">
            <a:avLst>
              <a:gd fmla="val 50000" name="adj"/>
            </a:avLst>
          </a:prstGeom>
          <a:solidFill>
            <a:srgbClr val="FF82B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 name="Google Shape;65;p14"/>
          <p:cNvSpPr txBox="1"/>
          <p:nvPr>
            <p:ph type="title"/>
          </p:nvPr>
        </p:nvSpPr>
        <p:spPr>
          <a:xfrm>
            <a:off x="311700" y="445025"/>
            <a:ext cx="3869100" cy="572700"/>
          </a:xfrm>
          <a:prstGeom prst="rect">
            <a:avLst/>
          </a:prstGeom>
          <a:solidFill>
            <a:schemeClr val="dk1"/>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latin typeface="Permanent Marker"/>
                <a:ea typeface="Permanent Marker"/>
                <a:cs typeface="Permanent Marker"/>
                <a:sym typeface="Permanent Marker"/>
              </a:rPr>
              <a:t>Description &amp; Motive</a:t>
            </a:r>
            <a:endParaRPr>
              <a:solidFill>
                <a:schemeClr val="lt1"/>
              </a:solidFill>
              <a:latin typeface="Permanent Marker"/>
              <a:ea typeface="Permanent Marker"/>
              <a:cs typeface="Permanent Marker"/>
              <a:sym typeface="Permanent Marker"/>
            </a:endParaRPr>
          </a:p>
        </p:txBody>
      </p:sp>
      <p:sp>
        <p:nvSpPr>
          <p:cNvPr id="66" name="Google Shape;66;p14"/>
          <p:cNvSpPr/>
          <p:nvPr/>
        </p:nvSpPr>
        <p:spPr>
          <a:xfrm>
            <a:off x="963675" y="1454725"/>
            <a:ext cx="3518100" cy="3416400"/>
          </a:xfrm>
          <a:prstGeom prst="rect">
            <a:avLst/>
          </a:prstGeom>
          <a:solidFill>
            <a:srgbClr val="FF82B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 name="Google Shape;67;p14"/>
          <p:cNvSpPr/>
          <p:nvPr/>
        </p:nvSpPr>
        <p:spPr>
          <a:xfrm>
            <a:off x="5492350" y="1454725"/>
            <a:ext cx="3518100" cy="3416400"/>
          </a:xfrm>
          <a:prstGeom prst="rect">
            <a:avLst/>
          </a:prstGeom>
          <a:solidFill>
            <a:srgbClr val="FF82B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 name="Google Shape;68;p14"/>
          <p:cNvSpPr txBox="1"/>
          <p:nvPr>
            <p:ph idx="2" type="body"/>
          </p:nvPr>
        </p:nvSpPr>
        <p:spPr>
          <a:xfrm>
            <a:off x="4832400" y="1300925"/>
            <a:ext cx="3999900" cy="3416400"/>
          </a:xfrm>
          <a:prstGeom prst="rect">
            <a:avLst/>
          </a:prstGeom>
          <a:solidFill>
            <a:schemeClr val="lt1"/>
          </a:solidFill>
          <a:ln cap="flat" cmpd="sng" w="38100">
            <a:solidFill>
              <a:srgbClr val="000000"/>
            </a:solidFill>
            <a:prstDash val="solid"/>
            <a:round/>
            <a:headEnd len="sm" w="sm" type="none"/>
            <a:tailEnd len="sm" w="sm" type="none"/>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u="sng">
                <a:solidFill>
                  <a:schemeClr val="dk1"/>
                </a:solidFill>
                <a:latin typeface="Rowdies"/>
                <a:ea typeface="Rowdies"/>
                <a:cs typeface="Rowdies"/>
                <a:sym typeface="Rowdies"/>
              </a:rPr>
              <a:t>Motive:</a:t>
            </a:r>
            <a:r>
              <a:rPr lang="en" u="sng">
                <a:solidFill>
                  <a:schemeClr val="dk1"/>
                </a:solidFill>
                <a:latin typeface="Rowdies"/>
                <a:ea typeface="Rowdies"/>
                <a:cs typeface="Rowdies"/>
                <a:sym typeface="Rowdies"/>
              </a:rPr>
              <a:t> </a:t>
            </a:r>
            <a:r>
              <a:rPr lang="en">
                <a:solidFill>
                  <a:schemeClr val="dk1"/>
                </a:solidFill>
                <a:latin typeface="Rowdies"/>
                <a:ea typeface="Rowdies"/>
                <a:cs typeface="Rowdies"/>
                <a:sym typeface="Rowdies"/>
              </a:rPr>
              <a:t>Music taste is really personal to us as a society. It can be hard to really show someone the depth of your understanding and connection with music. Our goal is to have our users share, reference, and explain their taste through our webpage.</a:t>
            </a:r>
            <a:endParaRPr>
              <a:solidFill>
                <a:schemeClr val="dk1"/>
              </a:solidFill>
              <a:latin typeface="Rowdies"/>
              <a:ea typeface="Rowdies"/>
              <a:cs typeface="Rowdies"/>
              <a:sym typeface="Rowdies"/>
            </a:endParaRPr>
          </a:p>
          <a:p>
            <a:pPr indent="0" lvl="0" marL="0" rtl="0" algn="l">
              <a:spcBef>
                <a:spcPts val="1200"/>
              </a:spcBef>
              <a:spcAft>
                <a:spcPts val="1200"/>
              </a:spcAft>
              <a:buClr>
                <a:schemeClr val="dk1"/>
              </a:buClr>
              <a:buSzPts val="1100"/>
              <a:buFont typeface="Arial"/>
              <a:buNone/>
            </a:pPr>
            <a:r>
              <a:rPr b="1" lang="en" u="sng">
                <a:solidFill>
                  <a:schemeClr val="dk1"/>
                </a:solidFill>
                <a:latin typeface="Rowdies"/>
                <a:ea typeface="Rowdies"/>
                <a:cs typeface="Rowdies"/>
                <a:sym typeface="Rowdies"/>
              </a:rPr>
              <a:t>Target Users:</a:t>
            </a:r>
            <a:r>
              <a:rPr lang="en">
                <a:solidFill>
                  <a:schemeClr val="dk1"/>
                </a:solidFill>
                <a:latin typeface="Rowdies"/>
                <a:ea typeface="Rowdies"/>
                <a:cs typeface="Rowdies"/>
                <a:sym typeface="Rowdies"/>
              </a:rPr>
              <a:t> This project is designed for anyone who enjoys music. From avid audiophiles to casual car-radio listeners, this page is for all ages and demographics. Most users will likely share with their friends and family, so the user-base should expand quickly as well</a:t>
            </a:r>
            <a:endParaRPr>
              <a:solidFill>
                <a:schemeClr val="dk1"/>
              </a:solidFill>
              <a:latin typeface="Rowdies"/>
              <a:ea typeface="Rowdies"/>
              <a:cs typeface="Rowdies"/>
              <a:sym typeface="Rowdies"/>
            </a:endParaRPr>
          </a:p>
        </p:txBody>
      </p:sp>
      <p:sp>
        <p:nvSpPr>
          <p:cNvPr id="69" name="Google Shape;69;p14"/>
          <p:cNvSpPr txBox="1"/>
          <p:nvPr>
            <p:ph idx="1" type="body"/>
          </p:nvPr>
        </p:nvSpPr>
        <p:spPr>
          <a:xfrm>
            <a:off x="311700" y="1300925"/>
            <a:ext cx="3999900" cy="3416400"/>
          </a:xfrm>
          <a:prstGeom prst="rect">
            <a:avLst/>
          </a:prstGeom>
          <a:solidFill>
            <a:schemeClr val="lt1"/>
          </a:solidFill>
          <a:ln cap="flat" cmpd="sng" w="38100">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Rowdies"/>
                <a:ea typeface="Rowdies"/>
                <a:cs typeface="Rowdies"/>
                <a:sym typeface="Rowdies"/>
              </a:rPr>
              <a:t>The Save Your Listens page (SYL) is a </a:t>
            </a:r>
            <a:r>
              <a:rPr lang="en">
                <a:solidFill>
                  <a:schemeClr val="dk1"/>
                </a:solidFill>
                <a:latin typeface="Rowdies"/>
                <a:ea typeface="Rowdies"/>
                <a:cs typeface="Rowdies"/>
                <a:sym typeface="Rowdies"/>
              </a:rPr>
              <a:t>web page</a:t>
            </a:r>
            <a:r>
              <a:rPr lang="en">
                <a:solidFill>
                  <a:schemeClr val="dk1"/>
                </a:solidFill>
                <a:latin typeface="Rowdies"/>
                <a:ea typeface="Rowdies"/>
                <a:cs typeface="Rowdies"/>
                <a:sym typeface="Rowdies"/>
              </a:rPr>
              <a:t> where users can enter a song they listened to recently and want to share their thoughts on. The page will let users save notes and ratings of these songs, along with the songs information so that they can share their musical taste with others. </a:t>
            </a:r>
            <a:endParaRPr>
              <a:solidFill>
                <a:schemeClr val="dk1"/>
              </a:solidFill>
              <a:latin typeface="Rowdies"/>
              <a:ea typeface="Rowdies"/>
              <a:cs typeface="Rowdies"/>
              <a:sym typeface="Rowdies"/>
            </a:endParaRPr>
          </a:p>
          <a:p>
            <a:pPr indent="0" lvl="0" marL="0" rtl="0" algn="l">
              <a:spcBef>
                <a:spcPts val="1200"/>
              </a:spcBef>
              <a:spcAft>
                <a:spcPts val="1200"/>
              </a:spcAft>
              <a:buNone/>
            </a:pPr>
            <a:r>
              <a:t/>
            </a:r>
            <a:endParaRPr>
              <a:solidFill>
                <a:schemeClr val="dk1"/>
              </a:solidFill>
              <a:latin typeface="Rowdies"/>
              <a:ea typeface="Rowdies"/>
              <a:cs typeface="Rowdies"/>
              <a:sym typeface="Rowdies"/>
            </a:endParaRPr>
          </a:p>
        </p:txBody>
      </p:sp>
      <p:sp>
        <p:nvSpPr>
          <p:cNvPr id="70" name="Google Shape;70;p14"/>
          <p:cNvSpPr/>
          <p:nvPr/>
        </p:nvSpPr>
        <p:spPr>
          <a:xfrm rot="5400000">
            <a:off x="4973500" y="511350"/>
            <a:ext cx="571500" cy="466200"/>
          </a:xfrm>
          <a:prstGeom prst="triangle">
            <a:avLst>
              <a:gd fmla="val 50000"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4"/>
          <p:cNvSpPr/>
          <p:nvPr/>
        </p:nvSpPr>
        <p:spPr>
          <a:xfrm rot="5400000">
            <a:off x="4173468" y="443671"/>
            <a:ext cx="812100" cy="571500"/>
          </a:xfrm>
          <a:prstGeom prst="mathEqual">
            <a:avLst>
              <a:gd fmla="val 23520" name="adj1"/>
              <a:gd fmla="val 1176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 name="Shape 75"/>
        <p:cNvGrpSpPr/>
        <p:nvPr/>
      </p:nvGrpSpPr>
      <p:grpSpPr>
        <a:xfrm>
          <a:off x="0" y="0"/>
          <a:ext cx="0" cy="0"/>
          <a:chOff x="0" y="0"/>
          <a:chExt cx="0" cy="0"/>
        </a:xfrm>
      </p:grpSpPr>
      <p:pic>
        <p:nvPicPr>
          <p:cNvPr id="76" name="Google Shape;76;p15"/>
          <p:cNvPicPr preferRelativeResize="0"/>
          <p:nvPr/>
        </p:nvPicPr>
        <p:blipFill>
          <a:blip r:embed="rId3">
            <a:alphaModFix amt="60000"/>
          </a:blip>
          <a:stretch>
            <a:fillRect/>
          </a:stretch>
        </p:blipFill>
        <p:spPr>
          <a:xfrm>
            <a:off x="0" y="0"/>
            <a:ext cx="9144000" cy="5143500"/>
          </a:xfrm>
          <a:prstGeom prst="rect">
            <a:avLst/>
          </a:prstGeom>
          <a:noFill/>
          <a:ln>
            <a:noFill/>
          </a:ln>
        </p:spPr>
      </p:pic>
      <p:sp>
        <p:nvSpPr>
          <p:cNvPr id="77" name="Google Shape;77;p15"/>
          <p:cNvSpPr txBox="1"/>
          <p:nvPr>
            <p:ph type="title"/>
          </p:nvPr>
        </p:nvSpPr>
        <p:spPr>
          <a:xfrm>
            <a:off x="416968" y="353439"/>
            <a:ext cx="3043200" cy="572700"/>
          </a:xfrm>
          <a:prstGeom prst="rect">
            <a:avLst/>
          </a:prstGeom>
          <a:solidFill>
            <a:srgbClr val="FF82B5"/>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latin typeface="Permanent Marker"/>
                <a:ea typeface="Permanent Marker"/>
                <a:cs typeface="Permanent Marker"/>
                <a:sym typeface="Permanent Marker"/>
              </a:rPr>
              <a:t>Description</a:t>
            </a:r>
            <a:endParaRPr>
              <a:solidFill>
                <a:schemeClr val="lt1"/>
              </a:solidFill>
              <a:latin typeface="Permanent Marker"/>
              <a:ea typeface="Permanent Marker"/>
              <a:cs typeface="Permanent Marker"/>
              <a:sym typeface="Permanent Marker"/>
            </a:endParaRPr>
          </a:p>
        </p:txBody>
      </p:sp>
      <p:sp>
        <p:nvSpPr>
          <p:cNvPr id="78" name="Google Shape;78;p15"/>
          <p:cNvSpPr/>
          <p:nvPr/>
        </p:nvSpPr>
        <p:spPr>
          <a:xfrm rot="5400000">
            <a:off x="3412163" y="444276"/>
            <a:ext cx="812100" cy="571500"/>
          </a:xfrm>
          <a:prstGeom prst="mathEqual">
            <a:avLst>
              <a:gd fmla="val 23520" name="adj1"/>
              <a:gd fmla="val 11760" name="adj2"/>
            </a:avLst>
          </a:prstGeom>
          <a:solidFill>
            <a:srgbClr val="FF82B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5"/>
          <p:cNvSpPr/>
          <p:nvPr/>
        </p:nvSpPr>
        <p:spPr>
          <a:xfrm rot="5400000">
            <a:off x="4168725" y="498275"/>
            <a:ext cx="571500" cy="466200"/>
          </a:xfrm>
          <a:prstGeom prst="triangle">
            <a:avLst>
              <a:gd fmla="val 50000" name="adj"/>
            </a:avLst>
          </a:prstGeom>
          <a:solidFill>
            <a:srgbClr val="FF82B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 name="Google Shape;80;p15"/>
          <p:cNvSpPr txBox="1"/>
          <p:nvPr>
            <p:ph type="title"/>
          </p:nvPr>
        </p:nvSpPr>
        <p:spPr>
          <a:xfrm>
            <a:off x="311700" y="445025"/>
            <a:ext cx="3043200" cy="572700"/>
          </a:xfrm>
          <a:prstGeom prst="rect">
            <a:avLst/>
          </a:prstGeom>
          <a:solidFill>
            <a:schemeClr val="dk1"/>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latin typeface="Permanent Marker"/>
                <a:ea typeface="Permanent Marker"/>
                <a:cs typeface="Permanent Marker"/>
                <a:sym typeface="Permanent Marker"/>
              </a:rPr>
              <a:t>Function &amp; Tasks</a:t>
            </a:r>
            <a:endParaRPr>
              <a:solidFill>
                <a:schemeClr val="lt1"/>
              </a:solidFill>
              <a:latin typeface="Permanent Marker"/>
              <a:ea typeface="Permanent Marker"/>
              <a:cs typeface="Permanent Marker"/>
              <a:sym typeface="Permanent Marker"/>
            </a:endParaRPr>
          </a:p>
        </p:txBody>
      </p:sp>
      <p:sp>
        <p:nvSpPr>
          <p:cNvPr id="81" name="Google Shape;81;p15"/>
          <p:cNvSpPr/>
          <p:nvPr/>
        </p:nvSpPr>
        <p:spPr>
          <a:xfrm>
            <a:off x="963675" y="1454725"/>
            <a:ext cx="3518100" cy="3416400"/>
          </a:xfrm>
          <a:prstGeom prst="rect">
            <a:avLst/>
          </a:prstGeom>
          <a:solidFill>
            <a:srgbClr val="FF82B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 name="Google Shape;82;p15"/>
          <p:cNvSpPr/>
          <p:nvPr/>
        </p:nvSpPr>
        <p:spPr>
          <a:xfrm>
            <a:off x="5492350" y="477925"/>
            <a:ext cx="3518100" cy="4393200"/>
          </a:xfrm>
          <a:prstGeom prst="rect">
            <a:avLst/>
          </a:prstGeom>
          <a:solidFill>
            <a:srgbClr val="FF82B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 name="Google Shape;83;p15"/>
          <p:cNvSpPr txBox="1"/>
          <p:nvPr>
            <p:ph idx="2" type="body"/>
          </p:nvPr>
        </p:nvSpPr>
        <p:spPr>
          <a:xfrm>
            <a:off x="4832400" y="323975"/>
            <a:ext cx="3999900" cy="4393200"/>
          </a:xfrm>
          <a:prstGeom prst="rect">
            <a:avLst/>
          </a:prstGeom>
          <a:solidFill>
            <a:schemeClr val="lt1"/>
          </a:solidFill>
          <a:ln cap="flat" cmpd="sng" w="38100">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b="1" lang="en" u="sng">
                <a:solidFill>
                  <a:schemeClr val="dk1"/>
                </a:solidFill>
                <a:latin typeface="Rowdies"/>
                <a:ea typeface="Rowdies"/>
                <a:cs typeface="Rowdies"/>
                <a:sym typeface="Rowdies"/>
              </a:rPr>
              <a:t>Zach: </a:t>
            </a:r>
            <a:r>
              <a:rPr lang="en">
                <a:solidFill>
                  <a:schemeClr val="dk1"/>
                </a:solidFill>
                <a:latin typeface="Rowdies"/>
                <a:ea typeface="Rowdies"/>
                <a:cs typeface="Rowdies"/>
                <a:sym typeface="Rowdies"/>
              </a:rPr>
              <a:t> will be responsible for handling the database functions and formatting, and making sure that all information that needs to be retrieved, can be, and that all information that needs to be added, can be.</a:t>
            </a:r>
            <a:endParaRPr>
              <a:solidFill>
                <a:schemeClr val="dk1"/>
              </a:solidFill>
              <a:latin typeface="Rowdies"/>
              <a:ea typeface="Rowdies"/>
              <a:cs typeface="Rowdies"/>
              <a:sym typeface="Rowdies"/>
            </a:endParaRPr>
          </a:p>
          <a:p>
            <a:pPr indent="0" lvl="0" marL="0" rtl="0" algn="l">
              <a:spcBef>
                <a:spcPts val="1200"/>
              </a:spcBef>
              <a:spcAft>
                <a:spcPts val="0"/>
              </a:spcAft>
              <a:buNone/>
            </a:pPr>
            <a:r>
              <a:t/>
            </a:r>
            <a:endParaRPr b="1" u="sng">
              <a:solidFill>
                <a:schemeClr val="dk1"/>
              </a:solidFill>
              <a:latin typeface="Rowdies"/>
              <a:ea typeface="Rowdies"/>
              <a:cs typeface="Rowdies"/>
              <a:sym typeface="Rowdies"/>
            </a:endParaRPr>
          </a:p>
          <a:p>
            <a:pPr indent="0" lvl="0" marL="0" rtl="0" algn="l">
              <a:spcBef>
                <a:spcPts val="1200"/>
              </a:spcBef>
              <a:spcAft>
                <a:spcPts val="0"/>
              </a:spcAft>
              <a:buNone/>
            </a:pPr>
            <a:r>
              <a:rPr b="1" lang="en" u="sng">
                <a:solidFill>
                  <a:schemeClr val="dk1"/>
                </a:solidFill>
                <a:latin typeface="Rowdies"/>
                <a:ea typeface="Rowdies"/>
                <a:cs typeface="Rowdies"/>
                <a:sym typeface="Rowdies"/>
              </a:rPr>
              <a:t>Josh: </a:t>
            </a:r>
            <a:r>
              <a:rPr lang="en">
                <a:solidFill>
                  <a:schemeClr val="dk1"/>
                </a:solidFill>
                <a:latin typeface="Rowdies"/>
                <a:ea typeface="Rowdies"/>
                <a:cs typeface="Rowdies"/>
                <a:sym typeface="Rowdies"/>
              </a:rPr>
              <a:t>will focus on the actual page design format and UI, making it look nice, while being functional.</a:t>
            </a:r>
            <a:endParaRPr>
              <a:solidFill>
                <a:schemeClr val="dk1"/>
              </a:solidFill>
              <a:latin typeface="Rowdies"/>
              <a:ea typeface="Rowdies"/>
              <a:cs typeface="Rowdies"/>
              <a:sym typeface="Rowdies"/>
            </a:endParaRPr>
          </a:p>
          <a:p>
            <a:pPr indent="0" lvl="0" marL="0" rtl="0" algn="l">
              <a:spcBef>
                <a:spcPts val="1200"/>
              </a:spcBef>
              <a:spcAft>
                <a:spcPts val="0"/>
              </a:spcAft>
              <a:buNone/>
            </a:pPr>
            <a:r>
              <a:t/>
            </a:r>
            <a:endParaRPr b="1" u="sng">
              <a:solidFill>
                <a:schemeClr val="dk1"/>
              </a:solidFill>
              <a:latin typeface="Rowdies"/>
              <a:ea typeface="Rowdies"/>
              <a:cs typeface="Rowdies"/>
              <a:sym typeface="Rowdies"/>
            </a:endParaRPr>
          </a:p>
          <a:p>
            <a:pPr indent="0" lvl="0" marL="0" rtl="0" algn="l">
              <a:spcBef>
                <a:spcPts val="1200"/>
              </a:spcBef>
              <a:spcAft>
                <a:spcPts val="1200"/>
              </a:spcAft>
              <a:buNone/>
            </a:pPr>
            <a:r>
              <a:rPr b="1" lang="en" u="sng">
                <a:solidFill>
                  <a:schemeClr val="dk1"/>
                </a:solidFill>
                <a:latin typeface="Rowdies"/>
                <a:ea typeface="Rowdies"/>
                <a:cs typeface="Rowdies"/>
                <a:sym typeface="Rowdies"/>
              </a:rPr>
              <a:t>Aaron: </a:t>
            </a:r>
            <a:r>
              <a:rPr lang="en">
                <a:solidFill>
                  <a:schemeClr val="dk1"/>
                </a:solidFill>
                <a:latin typeface="Rowdies"/>
                <a:ea typeface="Rowdies"/>
                <a:cs typeface="Rowdies"/>
                <a:sym typeface="Rowdies"/>
              </a:rPr>
              <a:t>will focus on connecting the database functions to the actual page, and implementing an embed page that can be referenced on other sites.</a:t>
            </a:r>
            <a:endParaRPr>
              <a:solidFill>
                <a:schemeClr val="dk1"/>
              </a:solidFill>
              <a:latin typeface="Rowdies"/>
              <a:ea typeface="Rowdies"/>
              <a:cs typeface="Rowdies"/>
              <a:sym typeface="Rowdies"/>
            </a:endParaRPr>
          </a:p>
        </p:txBody>
      </p:sp>
      <p:sp>
        <p:nvSpPr>
          <p:cNvPr id="84" name="Google Shape;84;p15"/>
          <p:cNvSpPr txBox="1"/>
          <p:nvPr>
            <p:ph idx="1" type="body"/>
          </p:nvPr>
        </p:nvSpPr>
        <p:spPr>
          <a:xfrm>
            <a:off x="311700" y="1300775"/>
            <a:ext cx="3999900" cy="3416400"/>
          </a:xfrm>
          <a:prstGeom prst="rect">
            <a:avLst/>
          </a:prstGeom>
          <a:solidFill>
            <a:schemeClr val="lt1"/>
          </a:solidFill>
          <a:ln cap="flat" cmpd="sng" w="38100">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Rowdies"/>
                <a:ea typeface="Rowdies"/>
                <a:cs typeface="Rowdies"/>
                <a:sym typeface="Rowdies"/>
              </a:rPr>
              <a:t>Context: The SYL page would function as its own website where users have their own page that they can add songs to, and would have embeddable capabilities as well, to show a user’s top 5 songs, or other preset metrics. Places that users may wish to embed could be social media platforms (like instagram, or twitter) or a personal blog page.</a:t>
            </a:r>
            <a:endParaRPr>
              <a:solidFill>
                <a:schemeClr val="dk1"/>
              </a:solidFill>
              <a:latin typeface="Rowdies"/>
              <a:ea typeface="Rowdies"/>
              <a:cs typeface="Rowdies"/>
              <a:sym typeface="Rowdies"/>
            </a:endParaRPr>
          </a:p>
          <a:p>
            <a:pPr indent="0" lvl="0" marL="0" rtl="0" algn="l">
              <a:spcBef>
                <a:spcPts val="1200"/>
              </a:spcBef>
              <a:spcAft>
                <a:spcPts val="1200"/>
              </a:spcAft>
              <a:buNone/>
            </a:pPr>
            <a:r>
              <a:t/>
            </a:r>
            <a:endParaRPr>
              <a:solidFill>
                <a:schemeClr val="dk1"/>
              </a:solidFill>
              <a:latin typeface="Rowdies"/>
              <a:ea typeface="Rowdies"/>
              <a:cs typeface="Rowdies"/>
              <a:sym typeface="Rowdies"/>
            </a:endParaRPr>
          </a:p>
        </p:txBody>
      </p:sp>
      <p:sp>
        <p:nvSpPr>
          <p:cNvPr id="85" name="Google Shape;85;p15"/>
          <p:cNvSpPr/>
          <p:nvPr/>
        </p:nvSpPr>
        <p:spPr>
          <a:xfrm rot="5400000">
            <a:off x="4097150" y="511350"/>
            <a:ext cx="571500" cy="466200"/>
          </a:xfrm>
          <a:prstGeom prst="triangle">
            <a:avLst>
              <a:gd fmla="val 50000"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 name="Google Shape;86;p15"/>
          <p:cNvSpPr/>
          <p:nvPr/>
        </p:nvSpPr>
        <p:spPr>
          <a:xfrm rot="5400000">
            <a:off x="3331249" y="458700"/>
            <a:ext cx="812100" cy="571500"/>
          </a:xfrm>
          <a:prstGeom prst="mathEqual">
            <a:avLst>
              <a:gd fmla="val 23520" name="adj1"/>
              <a:gd fmla="val 1176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pic>
        <p:nvPicPr>
          <p:cNvPr id="91" name="Google Shape;91;p16"/>
          <p:cNvPicPr preferRelativeResize="0"/>
          <p:nvPr/>
        </p:nvPicPr>
        <p:blipFill>
          <a:blip r:embed="rId3">
            <a:alphaModFix amt="60000"/>
          </a:blip>
          <a:stretch>
            <a:fillRect/>
          </a:stretch>
        </p:blipFill>
        <p:spPr>
          <a:xfrm>
            <a:off x="0" y="0"/>
            <a:ext cx="9144000" cy="5143500"/>
          </a:xfrm>
          <a:prstGeom prst="rect">
            <a:avLst/>
          </a:prstGeom>
          <a:noFill/>
          <a:ln>
            <a:noFill/>
          </a:ln>
        </p:spPr>
      </p:pic>
      <p:sp>
        <p:nvSpPr>
          <p:cNvPr id="92" name="Google Shape;92;p16"/>
          <p:cNvSpPr txBox="1"/>
          <p:nvPr>
            <p:ph type="title"/>
          </p:nvPr>
        </p:nvSpPr>
        <p:spPr>
          <a:xfrm>
            <a:off x="416968" y="353439"/>
            <a:ext cx="3043200" cy="572700"/>
          </a:xfrm>
          <a:prstGeom prst="rect">
            <a:avLst/>
          </a:prstGeom>
          <a:solidFill>
            <a:srgbClr val="FF82B5"/>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latin typeface="Permanent Marker"/>
                <a:ea typeface="Permanent Marker"/>
                <a:cs typeface="Permanent Marker"/>
                <a:sym typeface="Permanent Marker"/>
              </a:rPr>
              <a:t>Description</a:t>
            </a:r>
            <a:endParaRPr>
              <a:solidFill>
                <a:schemeClr val="lt1"/>
              </a:solidFill>
              <a:latin typeface="Permanent Marker"/>
              <a:ea typeface="Permanent Marker"/>
              <a:cs typeface="Permanent Marker"/>
              <a:sym typeface="Permanent Marker"/>
            </a:endParaRPr>
          </a:p>
        </p:txBody>
      </p:sp>
      <p:sp>
        <p:nvSpPr>
          <p:cNvPr id="93" name="Google Shape;93;p16"/>
          <p:cNvSpPr/>
          <p:nvPr/>
        </p:nvSpPr>
        <p:spPr>
          <a:xfrm rot="5400000">
            <a:off x="3412163" y="444276"/>
            <a:ext cx="812100" cy="571500"/>
          </a:xfrm>
          <a:prstGeom prst="mathEqual">
            <a:avLst>
              <a:gd fmla="val 23520" name="adj1"/>
              <a:gd fmla="val 11760" name="adj2"/>
            </a:avLst>
          </a:prstGeom>
          <a:solidFill>
            <a:srgbClr val="FF82B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 name="Google Shape;94;p16"/>
          <p:cNvSpPr/>
          <p:nvPr/>
        </p:nvSpPr>
        <p:spPr>
          <a:xfrm rot="5400000">
            <a:off x="4168725" y="498275"/>
            <a:ext cx="571500" cy="466200"/>
          </a:xfrm>
          <a:prstGeom prst="triangle">
            <a:avLst>
              <a:gd fmla="val 50000" name="adj"/>
            </a:avLst>
          </a:prstGeom>
          <a:solidFill>
            <a:srgbClr val="FF82B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6"/>
          <p:cNvSpPr txBox="1"/>
          <p:nvPr>
            <p:ph type="title"/>
          </p:nvPr>
        </p:nvSpPr>
        <p:spPr>
          <a:xfrm>
            <a:off x="311700" y="445025"/>
            <a:ext cx="3043200" cy="572700"/>
          </a:xfrm>
          <a:prstGeom prst="rect">
            <a:avLst/>
          </a:prstGeom>
          <a:solidFill>
            <a:schemeClr val="dk1"/>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latin typeface="Permanent Marker"/>
                <a:ea typeface="Permanent Marker"/>
                <a:cs typeface="Permanent Marker"/>
                <a:sym typeface="Permanent Marker"/>
              </a:rPr>
              <a:t>Sketch layout</a:t>
            </a:r>
            <a:endParaRPr>
              <a:solidFill>
                <a:schemeClr val="lt1"/>
              </a:solidFill>
              <a:latin typeface="Permanent Marker"/>
              <a:ea typeface="Permanent Marker"/>
              <a:cs typeface="Permanent Marker"/>
              <a:sym typeface="Permanent Marker"/>
            </a:endParaRPr>
          </a:p>
        </p:txBody>
      </p:sp>
      <p:sp>
        <p:nvSpPr>
          <p:cNvPr id="96" name="Google Shape;96;p16"/>
          <p:cNvSpPr/>
          <p:nvPr/>
        </p:nvSpPr>
        <p:spPr>
          <a:xfrm rot="5400000">
            <a:off x="4097150" y="511350"/>
            <a:ext cx="571500" cy="466200"/>
          </a:xfrm>
          <a:prstGeom prst="triangle">
            <a:avLst>
              <a:gd fmla="val 50000"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 name="Google Shape;97;p16"/>
          <p:cNvSpPr/>
          <p:nvPr/>
        </p:nvSpPr>
        <p:spPr>
          <a:xfrm rot="5400000">
            <a:off x="3331249" y="458700"/>
            <a:ext cx="812100" cy="571500"/>
          </a:xfrm>
          <a:prstGeom prst="mathEqual">
            <a:avLst>
              <a:gd fmla="val 23520" name="adj1"/>
              <a:gd fmla="val 1176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 name="Google Shape;98;p16"/>
          <p:cNvSpPr/>
          <p:nvPr/>
        </p:nvSpPr>
        <p:spPr>
          <a:xfrm>
            <a:off x="5305625" y="624075"/>
            <a:ext cx="3522600" cy="4188600"/>
          </a:xfrm>
          <a:prstGeom prst="rect">
            <a:avLst/>
          </a:prstGeom>
          <a:solidFill>
            <a:srgbClr val="FF82B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9" name="Google Shape;99;p16"/>
          <p:cNvPicPr preferRelativeResize="0"/>
          <p:nvPr/>
        </p:nvPicPr>
        <p:blipFill>
          <a:blip r:embed="rId4">
            <a:alphaModFix/>
          </a:blip>
          <a:stretch>
            <a:fillRect/>
          </a:stretch>
        </p:blipFill>
        <p:spPr>
          <a:xfrm>
            <a:off x="5305625" y="458700"/>
            <a:ext cx="3372150" cy="4188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5CD"/>
        </a:solidFill>
      </p:bgPr>
    </p:bg>
    <p:spTree>
      <p:nvGrpSpPr>
        <p:cNvPr id="103" name="Shape 103"/>
        <p:cNvGrpSpPr/>
        <p:nvPr/>
      </p:nvGrpSpPr>
      <p:grpSpPr>
        <a:xfrm>
          <a:off x="0" y="0"/>
          <a:ext cx="0" cy="0"/>
          <a:chOff x="0" y="0"/>
          <a:chExt cx="0" cy="0"/>
        </a:xfrm>
      </p:grpSpPr>
      <p:pic>
        <p:nvPicPr>
          <p:cNvPr id="104" name="Google Shape;104;p17"/>
          <p:cNvPicPr preferRelativeResize="0"/>
          <p:nvPr/>
        </p:nvPicPr>
        <p:blipFill rotWithShape="1">
          <a:blip r:embed="rId3">
            <a:alphaModFix amt="98000"/>
          </a:blip>
          <a:srcRect b="11903" l="6015" r="5644" t="4561"/>
          <a:stretch/>
        </p:blipFill>
        <p:spPr>
          <a:xfrm>
            <a:off x="1868799" y="1452550"/>
            <a:ext cx="5171350" cy="3143575"/>
          </a:xfrm>
          <a:prstGeom prst="rect">
            <a:avLst/>
          </a:prstGeom>
          <a:noFill/>
          <a:ln>
            <a:noFill/>
          </a:ln>
        </p:spPr>
      </p:pic>
      <p:sp>
        <p:nvSpPr>
          <p:cNvPr id="105" name="Google Shape;105;p17"/>
          <p:cNvSpPr txBox="1"/>
          <p:nvPr>
            <p:ph type="title"/>
          </p:nvPr>
        </p:nvSpPr>
        <p:spPr>
          <a:xfrm>
            <a:off x="416968" y="353439"/>
            <a:ext cx="3043200" cy="572700"/>
          </a:xfrm>
          <a:prstGeom prst="rect">
            <a:avLst/>
          </a:prstGeom>
          <a:solidFill>
            <a:srgbClr val="FF82B5"/>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latin typeface="Permanent Marker"/>
                <a:ea typeface="Permanent Marker"/>
                <a:cs typeface="Permanent Marker"/>
                <a:sym typeface="Permanent Marker"/>
              </a:rPr>
              <a:t>Description</a:t>
            </a:r>
            <a:endParaRPr>
              <a:solidFill>
                <a:schemeClr val="lt1"/>
              </a:solidFill>
              <a:latin typeface="Permanent Marker"/>
              <a:ea typeface="Permanent Marker"/>
              <a:cs typeface="Permanent Marker"/>
              <a:sym typeface="Permanent Marker"/>
            </a:endParaRPr>
          </a:p>
        </p:txBody>
      </p:sp>
      <p:sp>
        <p:nvSpPr>
          <p:cNvPr id="106" name="Google Shape;106;p17"/>
          <p:cNvSpPr/>
          <p:nvPr/>
        </p:nvSpPr>
        <p:spPr>
          <a:xfrm rot="5400000">
            <a:off x="3412163" y="444276"/>
            <a:ext cx="812100" cy="571500"/>
          </a:xfrm>
          <a:prstGeom prst="mathEqual">
            <a:avLst>
              <a:gd fmla="val 23520" name="adj1"/>
              <a:gd fmla="val 11760" name="adj2"/>
            </a:avLst>
          </a:prstGeom>
          <a:solidFill>
            <a:srgbClr val="FF82B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 name="Google Shape;107;p17"/>
          <p:cNvSpPr/>
          <p:nvPr/>
        </p:nvSpPr>
        <p:spPr>
          <a:xfrm rot="5400000">
            <a:off x="4168725" y="498275"/>
            <a:ext cx="571500" cy="466200"/>
          </a:xfrm>
          <a:prstGeom prst="triangle">
            <a:avLst>
              <a:gd fmla="val 50000" name="adj"/>
            </a:avLst>
          </a:prstGeom>
          <a:solidFill>
            <a:srgbClr val="FF82B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 name="Google Shape;108;p17"/>
          <p:cNvSpPr txBox="1"/>
          <p:nvPr>
            <p:ph type="title"/>
          </p:nvPr>
        </p:nvSpPr>
        <p:spPr>
          <a:xfrm>
            <a:off x="311700" y="445025"/>
            <a:ext cx="3043200" cy="572700"/>
          </a:xfrm>
          <a:prstGeom prst="rect">
            <a:avLst/>
          </a:prstGeom>
          <a:solidFill>
            <a:schemeClr val="dk1"/>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latin typeface="Permanent Marker"/>
                <a:ea typeface="Permanent Marker"/>
                <a:cs typeface="Permanent Marker"/>
                <a:sym typeface="Permanent Marker"/>
              </a:rPr>
              <a:t>Thank you / Q&amp;A</a:t>
            </a:r>
            <a:endParaRPr>
              <a:solidFill>
                <a:schemeClr val="lt1"/>
              </a:solidFill>
              <a:latin typeface="Permanent Marker"/>
              <a:ea typeface="Permanent Marker"/>
              <a:cs typeface="Permanent Marker"/>
              <a:sym typeface="Permanent Marker"/>
            </a:endParaRPr>
          </a:p>
        </p:txBody>
      </p:sp>
      <p:sp>
        <p:nvSpPr>
          <p:cNvPr id="109" name="Google Shape;109;p17"/>
          <p:cNvSpPr/>
          <p:nvPr/>
        </p:nvSpPr>
        <p:spPr>
          <a:xfrm rot="5400000">
            <a:off x="4097150" y="511350"/>
            <a:ext cx="571500" cy="466200"/>
          </a:xfrm>
          <a:prstGeom prst="triangle">
            <a:avLst>
              <a:gd fmla="val 50000"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 name="Google Shape;110;p17"/>
          <p:cNvSpPr/>
          <p:nvPr/>
        </p:nvSpPr>
        <p:spPr>
          <a:xfrm rot="5400000">
            <a:off x="3331249" y="458700"/>
            <a:ext cx="812100" cy="571500"/>
          </a:xfrm>
          <a:prstGeom prst="mathEqual">
            <a:avLst>
              <a:gd fmla="val 23520" name="adj1"/>
              <a:gd fmla="val 1176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